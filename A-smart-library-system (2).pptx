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Barlow SemiBold"/>
      <p:regular r:id="rId201314"/>
    </p:embeddedFont>
    <p:embeddedFont>
      <p:font typeface="Barlow"/>
      <p:regular r:id="rId201315"/>
    </p:embeddedFont>
    <p:embeddedFont>
      <p:font typeface="Barlow Bold"/>
      <p:regular r:id="rId201316"/>
    </p:embeddedFont>
    <p:embeddedFont>
      <p:font typeface="Barlow Black"/>
      <p:regular r:id="rId201317"/>
    </p:embeddedFont>
    <p:embeddedFont>
      <p:font typeface="Spline Sans SemiBold"/>
      <p:regular r:id="rId201318"/>
    </p:embeddedFont>
    <p:embeddedFont>
      <p:font typeface="Spline Sans Bold"/>
      <p:regular r:id="rId201319"/>
    </p:embeddedFont>
    <p:embeddedFont>
      <p:font typeface="Spline Sans"/>
      <p:regular r:id="rId2013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0012" y="692944"/>
            <a:ext cx="6179784" cy="461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ReadSpace</a:t>
            </a:r>
            <a:pPr algn="l" indent="0" marL="0">
              <a:lnSpc>
                <a:spcPct val="104000"/>
              </a:lnSpc>
              <a:buNone/>
            </a:pPr>
            <a:r>
              <a:rPr lang="en-US" sz="28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📚</a:t>
            </a:r>
            <a:endParaRPr lang="en-US" sz="2850" dirty="0"/>
          </a:p>
        </p:txBody>
      </p:sp>
      <p:sp>
        <p:nvSpPr>
          <p:cNvPr id="4" name="Text 1"/>
          <p:cNvSpPr/>
          <p:nvPr/>
        </p:nvSpPr>
        <p:spPr>
          <a:xfrm>
            <a:off x="720012" y="1350665"/>
            <a:ext cx="6179784" cy="628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 smart library system</a:t>
            </a:r>
            <a:endParaRPr lang="en-US" sz="3950" dirty="0"/>
          </a:p>
        </p:txBody>
      </p:sp>
      <p:sp>
        <p:nvSpPr>
          <p:cNvPr id="5" name="Text 2"/>
          <p:cNvSpPr/>
          <p:nvPr/>
        </p:nvSpPr>
        <p:spPr>
          <a:xfrm>
            <a:off x="720012" y="2174974"/>
            <a:ext cx="6789369" cy="235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Built by Team G6 to help libraries work better in the digital age.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20012" y="2557462"/>
            <a:ext cx="697887" cy="249039"/>
          </a:xfrm>
          <a:prstGeom prst="roundRect">
            <a:avLst>
              <a:gd name="adj" fmla="val 49999"/>
            </a:avLst>
          </a:prstGeom>
          <a:solidFill>
            <a:srgbClr val="004D36"/>
          </a:solidFill>
          <a:ln/>
        </p:spPr>
      </p:sp>
      <p:sp>
        <p:nvSpPr>
          <p:cNvPr id="7" name="Text 4"/>
          <p:cNvSpPr/>
          <p:nvPr/>
        </p:nvSpPr>
        <p:spPr>
          <a:xfrm>
            <a:off x="818336" y="2606576"/>
            <a:ext cx="1110825" cy="150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TEAM G6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499852" y="2557462"/>
            <a:ext cx="1196151" cy="249039"/>
          </a:xfrm>
          <a:prstGeom prst="roundRect">
            <a:avLst>
              <a:gd name="adj" fmla="val 49999"/>
            </a:avLst>
          </a:prstGeom>
          <a:noFill/>
          <a:ln w="12700">
            <a:solidFill>
              <a:srgbClr val="16FF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598176" y="2606576"/>
            <a:ext cx="1609089" cy="150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PITCH DECK 2026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20012" y="2953445"/>
            <a:ext cx="3024608" cy="907554"/>
          </a:xfrm>
          <a:prstGeom prst="roundRect">
            <a:avLst>
              <a:gd name="adj" fmla="val 27097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02967" y="3136404"/>
            <a:ext cx="2658698" cy="227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Doaa Mohamed Adly Mohamed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02967" y="3442494"/>
            <a:ext cx="2658698" cy="235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Integration &amp; QA Lead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875189" y="2953445"/>
            <a:ext cx="3024608" cy="907554"/>
          </a:xfrm>
          <a:prstGeom prst="roundRect">
            <a:avLst>
              <a:gd name="adj" fmla="val 27097"/>
            </a:avLst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58144" y="3136404"/>
            <a:ext cx="2658698" cy="227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Mariam Mohamed Mahmoud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058144" y="3442494"/>
            <a:ext cx="2658698" cy="235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Frontend / JavaScript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20012" y="3991570"/>
            <a:ext cx="3024608" cy="1135261"/>
          </a:xfrm>
          <a:prstGeom prst="roundRect">
            <a:avLst>
              <a:gd name="adj" fmla="val 21662"/>
            </a:avLst>
          </a:prstGeom>
          <a:solidFill>
            <a:srgbClr val="0A081B"/>
          </a:solidFill>
          <a:ln w="19050">
            <a:solidFill>
              <a:srgbClr val="37A7E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02967" y="4174530"/>
            <a:ext cx="2658698" cy="227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Ragaa Adel Elsayed Ibrahim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02967" y="4480620"/>
            <a:ext cx="2658698" cy="235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Frontend-templates&amp;css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3875189" y="3991570"/>
            <a:ext cx="3024608" cy="1135261"/>
          </a:xfrm>
          <a:prstGeom prst="roundRect">
            <a:avLst>
              <a:gd name="adj" fmla="val 21662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058144" y="4174530"/>
            <a:ext cx="2658698" cy="45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Hoda Ashraf Shabaan Mohamed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058144" y="4708327"/>
            <a:ext cx="2658698" cy="235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backend-models &amp;admen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20012" y="5257403"/>
            <a:ext cx="6179784" cy="907554"/>
          </a:xfrm>
          <a:prstGeom prst="roundRect">
            <a:avLst>
              <a:gd name="adj" fmla="val 27097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02967" y="5440363"/>
            <a:ext cx="5813875" cy="227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Zainab Salama Mohamed Tony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902967" y="5746452"/>
            <a:ext cx="5813875" cy="235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backend-auth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843459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Problem: Libraries Are Stuck in the Past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20012" y="1826419"/>
            <a:ext cx="5272948" cy="1206897"/>
          </a:xfrm>
          <a:prstGeom prst="roundRect">
            <a:avLst>
              <a:gd name="adj" fmla="val 25570"/>
            </a:avLst>
          </a:prstGeom>
          <a:solidFill>
            <a:srgbClr val="0A081B"/>
          </a:solidFill>
          <a:ln w="25399">
            <a:solidFill>
              <a:srgbClr val="16FF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1087" y="2057499"/>
            <a:ext cx="4810798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⏱</a:t>
            </a:r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Time-Consuming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951087" y="2473027"/>
            <a:ext cx="4810798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Manual checkouts waste staff hours daily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98636" y="1826419"/>
            <a:ext cx="5273047" cy="1206897"/>
          </a:xfrm>
          <a:prstGeom prst="roundRect">
            <a:avLst>
              <a:gd name="adj" fmla="val 25570"/>
            </a:avLst>
          </a:prstGeom>
          <a:solidFill>
            <a:srgbClr val="0A081B"/>
          </a:solidFill>
          <a:ln w="25399">
            <a:solidFill>
              <a:srgbClr val="29DD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29710" y="2057499"/>
            <a:ext cx="4810898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📉</a:t>
            </a:r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No Visibility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6429710" y="2473027"/>
            <a:ext cx="4810898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Zero real-time data on inventory or loans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20012" y="3238996"/>
            <a:ext cx="5272948" cy="1206897"/>
          </a:xfrm>
          <a:prstGeom prst="roundRect">
            <a:avLst>
              <a:gd name="adj" fmla="val 25570"/>
            </a:avLst>
          </a:prstGeom>
          <a:solidFill>
            <a:srgbClr val="0A081B"/>
          </a:solidFill>
          <a:ln w="25399">
            <a:solidFill>
              <a:srgbClr val="37A7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1087" y="3470077"/>
            <a:ext cx="4810798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🔍</a:t>
            </a:r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Hard to Find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51087" y="3885605"/>
            <a:ext cx="4810798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Patrons can't search or filter catalogs easily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98636" y="3238996"/>
            <a:ext cx="5273047" cy="1206897"/>
          </a:xfrm>
          <a:prstGeom prst="roundRect">
            <a:avLst>
              <a:gd name="adj" fmla="val 25570"/>
            </a:avLst>
          </a:prstGeom>
          <a:solidFill>
            <a:srgbClr val="0A081B"/>
          </a:solidFill>
          <a:ln w="25399">
            <a:solidFill>
              <a:srgbClr val="16FF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9710" y="3470077"/>
            <a:ext cx="4810898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📋</a:t>
            </a:r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Error-Prone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6429710" y="3885605"/>
            <a:ext cx="4810898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Paper records lead to costly mistakes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20012" y="4677271"/>
            <a:ext cx="10751670" cy="1337171"/>
          </a:xfrm>
          <a:prstGeom prst="roundRect">
            <a:avLst>
              <a:gd name="adj" fmla="val 23079"/>
            </a:avLst>
          </a:prstGeom>
          <a:solidFill>
            <a:srgbClr val="204C8E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688" y="4970264"/>
            <a:ext cx="257169" cy="2056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388532" y="4934347"/>
            <a:ext cx="9877476" cy="843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Outdated Tech Resources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Hard to track latest programming editions and tech stacks manually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634901"/>
            <a:ext cx="10751670" cy="419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Introducing ReadSpace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7979" y="1345803"/>
            <a:ext cx="4127794" cy="33144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663" y="2533650"/>
            <a:ext cx="3523567" cy="209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One Platform. Total Control.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13663" y="2854424"/>
            <a:ext cx="3523567" cy="628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ReadSpace is a modern, end-to-end digital library system — designed for administrators and readers alike.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720012" y="5023148"/>
            <a:ext cx="10751670" cy="19050"/>
          </a:xfrm>
          <a:prstGeom prst="roundRect">
            <a:avLst>
              <a:gd name="adj" fmla="val 49999"/>
            </a:avLst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2002383" y="5023148"/>
            <a:ext cx="19050" cy="453231"/>
          </a:xfrm>
          <a:prstGeom prst="roundRect">
            <a:avLst>
              <a:gd name="adj" fmla="val 49999"/>
            </a:avLst>
          </a:prstGeom>
          <a:solidFill>
            <a:srgbClr val="00E5A1"/>
          </a:solidFill>
          <a:ln/>
        </p:spPr>
      </p:sp>
      <p:sp>
        <p:nvSpPr>
          <p:cNvPr id="8" name="Shape 5"/>
          <p:cNvSpPr/>
          <p:nvPr/>
        </p:nvSpPr>
        <p:spPr>
          <a:xfrm>
            <a:off x="1955255" y="4966494"/>
            <a:ext cx="113305" cy="113308"/>
          </a:xfrm>
          <a:prstGeom prst="ellipse">
            <a:avLst/>
          </a:prstGeom>
          <a:solidFill>
            <a:srgbClr val="16FFBB"/>
          </a:solidFill>
          <a:ln/>
        </p:spPr>
      </p:sp>
      <p:sp>
        <p:nvSpPr>
          <p:cNvPr id="9" name="Shape 6"/>
          <p:cNvSpPr/>
          <p:nvPr/>
        </p:nvSpPr>
        <p:spPr>
          <a:xfrm>
            <a:off x="720012" y="5476379"/>
            <a:ext cx="2583889" cy="537071"/>
          </a:xfrm>
          <a:prstGeom prst="roundRect">
            <a:avLst>
              <a:gd name="adj" fmla="val 42197"/>
            </a:avLst>
          </a:prstGeom>
          <a:solidFill>
            <a:srgbClr val="000000"/>
          </a:solidFill>
          <a:ln w="12700">
            <a:solidFill>
              <a:srgbClr val="16FFB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3719" y="5640090"/>
            <a:ext cx="2256476" cy="209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Real-time inventory</a:t>
            </a:r>
            <a:pPr algn="ctr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at a glance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24976" y="5023148"/>
            <a:ext cx="19050" cy="453231"/>
          </a:xfrm>
          <a:prstGeom prst="roundRect">
            <a:avLst>
              <a:gd name="adj" fmla="val 49999"/>
            </a:avLst>
          </a:prstGeom>
          <a:solidFill>
            <a:srgbClr val="0FC3C0"/>
          </a:solidFill>
          <a:ln/>
        </p:spPr>
      </p:sp>
      <p:sp>
        <p:nvSpPr>
          <p:cNvPr id="12" name="Shape 9"/>
          <p:cNvSpPr/>
          <p:nvPr/>
        </p:nvSpPr>
        <p:spPr>
          <a:xfrm>
            <a:off x="4677849" y="4966494"/>
            <a:ext cx="113305" cy="113308"/>
          </a:xfrm>
          <a:prstGeom prst="ellipse">
            <a:avLst/>
          </a:prstGeom>
          <a:solidFill>
            <a:srgbClr val="29DDDA"/>
          </a:solidFill>
          <a:ln/>
        </p:spPr>
      </p:sp>
      <p:sp>
        <p:nvSpPr>
          <p:cNvPr id="13" name="Shape 10"/>
          <p:cNvSpPr/>
          <p:nvPr/>
        </p:nvSpPr>
        <p:spPr>
          <a:xfrm>
            <a:off x="3442507" y="5476379"/>
            <a:ext cx="2583988" cy="746720"/>
          </a:xfrm>
          <a:prstGeom prst="roundRect">
            <a:avLst>
              <a:gd name="adj" fmla="val 30350"/>
            </a:avLst>
          </a:prstGeom>
          <a:solidFill>
            <a:srgbClr val="000000"/>
          </a:solidFill>
          <a:ln w="12700">
            <a:solidFill>
              <a:srgbClr val="29DDD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06214" y="5640090"/>
            <a:ext cx="2256575" cy="419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Instant search</a:t>
            </a:r>
            <a:pPr algn="ctr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across the full catalog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447570" y="5023148"/>
            <a:ext cx="19050" cy="453231"/>
          </a:xfrm>
          <a:prstGeom prst="roundRect">
            <a:avLst>
              <a:gd name="adj" fmla="val 49999"/>
            </a:avLst>
          </a:prstGeom>
          <a:solidFill>
            <a:srgbClr val="1D8DCD"/>
          </a:solidFill>
          <a:ln/>
        </p:spPr>
      </p:sp>
      <p:sp>
        <p:nvSpPr>
          <p:cNvPr id="16" name="Shape 13"/>
          <p:cNvSpPr/>
          <p:nvPr/>
        </p:nvSpPr>
        <p:spPr>
          <a:xfrm>
            <a:off x="7400442" y="4966494"/>
            <a:ext cx="113305" cy="113308"/>
          </a:xfrm>
          <a:prstGeom prst="ellipse">
            <a:avLst/>
          </a:prstGeom>
          <a:solidFill>
            <a:srgbClr val="37A7E7"/>
          </a:solidFill>
          <a:ln/>
        </p:spPr>
      </p:sp>
      <p:sp>
        <p:nvSpPr>
          <p:cNvPr id="17" name="Shape 14"/>
          <p:cNvSpPr/>
          <p:nvPr/>
        </p:nvSpPr>
        <p:spPr>
          <a:xfrm>
            <a:off x="6165100" y="5476379"/>
            <a:ext cx="2583988" cy="537071"/>
          </a:xfrm>
          <a:prstGeom prst="roundRect">
            <a:avLst>
              <a:gd name="adj" fmla="val 42197"/>
            </a:avLst>
          </a:prstGeom>
          <a:solidFill>
            <a:srgbClr val="000000"/>
          </a:solidFill>
          <a:ln w="12700">
            <a:solidFill>
              <a:srgbClr val="37A7E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28807" y="5640090"/>
            <a:ext cx="2256575" cy="209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Frictionless borrowing</a:t>
            </a:r>
            <a:pPr algn="ctr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workflow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10170164" y="5023148"/>
            <a:ext cx="19050" cy="453231"/>
          </a:xfrm>
          <a:prstGeom prst="roundRect">
            <a:avLst>
              <a:gd name="adj" fmla="val 49999"/>
            </a:avLst>
          </a:prstGeom>
          <a:solidFill>
            <a:srgbClr val="0FC3C0"/>
          </a:solidFill>
          <a:ln/>
        </p:spPr>
      </p:sp>
      <p:sp>
        <p:nvSpPr>
          <p:cNvPr id="20" name="Shape 17"/>
          <p:cNvSpPr/>
          <p:nvPr/>
        </p:nvSpPr>
        <p:spPr>
          <a:xfrm>
            <a:off x="10123036" y="4966494"/>
            <a:ext cx="113305" cy="113308"/>
          </a:xfrm>
          <a:prstGeom prst="ellipse">
            <a:avLst/>
          </a:prstGeom>
          <a:solidFill>
            <a:srgbClr val="29DDDA"/>
          </a:solidFill>
          <a:ln/>
        </p:spPr>
      </p:sp>
      <p:sp>
        <p:nvSpPr>
          <p:cNvPr id="21" name="Shape 18"/>
          <p:cNvSpPr/>
          <p:nvPr/>
        </p:nvSpPr>
        <p:spPr>
          <a:xfrm>
            <a:off x="8887694" y="5476379"/>
            <a:ext cx="2583988" cy="537071"/>
          </a:xfrm>
          <a:prstGeom prst="roundRect">
            <a:avLst>
              <a:gd name="adj" fmla="val 42197"/>
            </a:avLst>
          </a:prstGeom>
          <a:solidFill>
            <a:srgbClr val="000000"/>
          </a:solidFill>
          <a:ln w="12700">
            <a:solidFill>
              <a:srgbClr val="29DDD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051401" y="5640090"/>
            <a:ext cx="2256575" cy="209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Secure user authentication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1018977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Core Features: Live Dashboard &amp; Catalog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8034831" y="2104727"/>
            <a:ext cx="343685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Live Stats Dashboard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8034831" y="2596158"/>
            <a:ext cx="3436852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Admins see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Total Books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Available Copies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and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Active Loans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in real time — zero manual counting.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034831" y="3866555"/>
            <a:ext cx="3436852" cy="25400"/>
          </a:xfrm>
          <a:prstGeom prst="roundRect">
            <a:avLst>
              <a:gd name="adj" fmla="val 49999"/>
            </a:avLst>
          </a:prstGeom>
          <a:solidFill>
            <a:srgbClr val="E0E4E6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034831" y="4174728"/>
            <a:ext cx="343685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Explore &amp; Search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8034831" y="4666159"/>
            <a:ext cx="3436852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Filter by category, author, or keyword. Find tech and programming books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instantly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905" y="2226965"/>
            <a:ext cx="6646597" cy="27696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72691"/>
            <a:ext cx="10751670" cy="455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Core Features: Authentication &amp; Borrowing</a:t>
            </a:r>
            <a:endParaRPr lang="en-US" sz="2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12" y="1289348"/>
            <a:ext cx="3496778" cy="1615877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0029" y="1436886"/>
            <a:ext cx="196647" cy="1966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02967" y="1945084"/>
            <a:ext cx="3130869" cy="227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Seamless Authentication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902967" y="2251174"/>
            <a:ext cx="3130869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Sign up and member login — secure, fast, and intuitive for all users.</a:t>
            </a:r>
            <a:endParaRPr lang="en-US" sz="12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47359" y="1289348"/>
            <a:ext cx="3496877" cy="1615877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7375" y="1436886"/>
            <a:ext cx="196647" cy="196652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530314" y="1945084"/>
            <a:ext cx="3130968" cy="227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Frictionless Borrowing</a:t>
            </a:r>
            <a:endParaRPr lang="en-US" sz="1400" dirty="0"/>
          </a:p>
        </p:txBody>
      </p:sp>
      <p:sp>
        <p:nvSpPr>
          <p:cNvPr id="10" name="Text 4"/>
          <p:cNvSpPr/>
          <p:nvPr/>
        </p:nvSpPr>
        <p:spPr>
          <a:xfrm>
            <a:off x="4530314" y="2251174"/>
            <a:ext cx="3130968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Borrow and return in seconds. Active loans and due dates tracked automatically.</a:t>
            </a:r>
            <a:endParaRPr lang="en-US" sz="12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74805" y="1289348"/>
            <a:ext cx="3496778" cy="1615877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24821" y="1436886"/>
            <a:ext cx="196647" cy="196652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8157760" y="1945084"/>
            <a:ext cx="3130869" cy="227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Automated Tracking</a:t>
            </a:r>
            <a:endParaRPr lang="en-US" sz="1400" dirty="0"/>
          </a:p>
        </p:txBody>
      </p:sp>
      <p:sp>
        <p:nvSpPr>
          <p:cNvPr id="14" name="Text 6"/>
          <p:cNvSpPr/>
          <p:nvPr/>
        </p:nvSpPr>
        <p:spPr>
          <a:xfrm>
            <a:off x="8157760" y="2251174"/>
            <a:ext cx="3130869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Return dates and loan history managed without manual input from staff.</a:t>
            </a:r>
            <a:endParaRPr lang="en-US" sz="125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54783" y="3552230"/>
            <a:ext cx="2526344" cy="2095599"/>
          </a:xfrm>
          <a:prstGeom prst="rect">
            <a:avLst/>
          </a:prstGeom>
        </p:spPr>
      </p:pic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31693" y="3552230"/>
            <a:ext cx="3316899" cy="2586038"/>
          </a:xfrm>
          <a:prstGeom prst="rect">
            <a:avLst/>
          </a:prstGeom>
        </p:spPr>
      </p:pic>
      <p:pic>
        <p:nvPicPr>
          <p:cNvPr id="17" name="Image 8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666" y="3208437"/>
            <a:ext cx="2446872" cy="24592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898" y="748705"/>
            <a:ext cx="61797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Business Value: Save Time. Cut Costs.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8369091" y="2200275"/>
            <a:ext cx="25399" cy="3908921"/>
          </a:xfrm>
          <a:prstGeom prst="roundRect">
            <a:avLst>
              <a:gd name="adj" fmla="val 50001"/>
            </a:avLst>
          </a:prstGeom>
          <a:solidFill>
            <a:srgbClr val="FFFFFF">
              <a:alpha val="24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7790064" y="3010495"/>
            <a:ext cx="617125" cy="25400"/>
          </a:xfrm>
          <a:prstGeom prst="roundRect">
            <a:avLst>
              <a:gd name="adj" fmla="val 49999"/>
            </a:avLst>
          </a:prstGeom>
          <a:solidFill>
            <a:srgbClr val="00E5A1"/>
          </a:solidFill>
          <a:ln/>
        </p:spPr>
      </p:sp>
      <p:sp>
        <p:nvSpPr>
          <p:cNvPr id="6" name="Shape 3"/>
          <p:cNvSpPr/>
          <p:nvPr/>
        </p:nvSpPr>
        <p:spPr>
          <a:xfrm>
            <a:off x="8304650" y="2946053"/>
            <a:ext cx="154281" cy="154285"/>
          </a:xfrm>
          <a:prstGeom prst="ellipse">
            <a:avLst/>
          </a:prstGeom>
          <a:solidFill>
            <a:srgbClr val="16FFBB"/>
          </a:solidFill>
          <a:ln/>
        </p:spPr>
      </p:sp>
      <p:sp>
        <p:nvSpPr>
          <p:cNvPr id="7" name="Shape 4"/>
          <p:cNvSpPr/>
          <p:nvPr/>
        </p:nvSpPr>
        <p:spPr>
          <a:xfrm>
            <a:off x="5291898" y="2200275"/>
            <a:ext cx="2472767" cy="1645841"/>
          </a:xfrm>
          <a:prstGeom prst="roundRect">
            <a:avLst>
              <a:gd name="adj" fmla="val 18750"/>
            </a:avLst>
          </a:prstGeom>
          <a:solidFill>
            <a:srgbClr val="0A081B"/>
          </a:solidFill>
          <a:ln w="25399">
            <a:solidFill>
              <a:srgbClr val="16FFB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522973" y="2431355"/>
            <a:ext cx="201061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Faster Checkouts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5522973" y="2840534"/>
            <a:ext cx="2010618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Digital workflow vs. manual process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356391" y="4244876"/>
            <a:ext cx="617125" cy="25400"/>
          </a:xfrm>
          <a:prstGeom prst="roundRect">
            <a:avLst>
              <a:gd name="adj" fmla="val 49999"/>
            </a:avLst>
          </a:prstGeom>
          <a:solidFill>
            <a:srgbClr val="0FC3C0"/>
          </a:solidFill>
          <a:ln/>
        </p:spPr>
      </p:sp>
      <p:sp>
        <p:nvSpPr>
          <p:cNvPr id="11" name="Shape 8"/>
          <p:cNvSpPr/>
          <p:nvPr/>
        </p:nvSpPr>
        <p:spPr>
          <a:xfrm>
            <a:off x="8304650" y="4180433"/>
            <a:ext cx="154281" cy="154285"/>
          </a:xfrm>
          <a:prstGeom prst="ellipse">
            <a:avLst/>
          </a:prstGeom>
          <a:solidFill>
            <a:srgbClr val="29DDDA"/>
          </a:solidFill>
          <a:ln/>
        </p:spPr>
      </p:sp>
      <p:sp>
        <p:nvSpPr>
          <p:cNvPr id="12" name="Shape 9"/>
          <p:cNvSpPr/>
          <p:nvPr/>
        </p:nvSpPr>
        <p:spPr>
          <a:xfrm>
            <a:off x="8998915" y="3434655"/>
            <a:ext cx="2472767" cy="1645841"/>
          </a:xfrm>
          <a:prstGeom prst="roundRect">
            <a:avLst>
              <a:gd name="adj" fmla="val 18750"/>
            </a:avLst>
          </a:prstGeom>
          <a:solidFill>
            <a:srgbClr val="0A081B"/>
          </a:solidFill>
          <a:ln w="25399">
            <a:solidFill>
              <a:srgbClr val="29DDD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229990" y="3665736"/>
            <a:ext cx="201061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Always Available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9229990" y="4074914"/>
            <a:ext cx="2010618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Catalog access beyond open hours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790064" y="5273477"/>
            <a:ext cx="617125" cy="25400"/>
          </a:xfrm>
          <a:prstGeom prst="roundRect">
            <a:avLst>
              <a:gd name="adj" fmla="val 49999"/>
            </a:avLst>
          </a:prstGeom>
          <a:solidFill>
            <a:srgbClr val="1D8DCD"/>
          </a:solidFill>
          <a:ln/>
        </p:spPr>
      </p:sp>
      <p:sp>
        <p:nvSpPr>
          <p:cNvPr id="16" name="Shape 13"/>
          <p:cNvSpPr/>
          <p:nvPr/>
        </p:nvSpPr>
        <p:spPr>
          <a:xfrm>
            <a:off x="8304650" y="5209034"/>
            <a:ext cx="154281" cy="154285"/>
          </a:xfrm>
          <a:prstGeom prst="ellipse">
            <a:avLst/>
          </a:prstGeom>
          <a:solidFill>
            <a:srgbClr val="37A7E7"/>
          </a:solidFill>
          <a:ln/>
        </p:spPr>
      </p:sp>
      <p:sp>
        <p:nvSpPr>
          <p:cNvPr id="17" name="Shape 14"/>
          <p:cNvSpPr/>
          <p:nvPr/>
        </p:nvSpPr>
        <p:spPr>
          <a:xfrm>
            <a:off x="5291898" y="4463256"/>
            <a:ext cx="2472767" cy="1645841"/>
          </a:xfrm>
          <a:prstGeom prst="roundRect">
            <a:avLst>
              <a:gd name="adj" fmla="val 18750"/>
            </a:avLst>
          </a:prstGeom>
          <a:solidFill>
            <a:srgbClr val="0A081B"/>
          </a:solidFill>
          <a:ln w="25399">
            <a:solidFill>
              <a:srgbClr val="37A7E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22973" y="4694337"/>
            <a:ext cx="201061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Paper Records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5522973" y="5103515"/>
            <a:ext cx="2010618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Fully digitized book management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65944"/>
            <a:ext cx="10751670" cy="392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Future Roadmap: What's Next for ReadSpace</a:t>
            </a:r>
            <a:endParaRPr lang="en-US" sz="2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1153319"/>
            <a:ext cx="10751670" cy="48383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39601" y="1179488"/>
            <a:ext cx="1881515" cy="516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AI Recommendations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339601" y="1779106"/>
            <a:ext cx="1881515" cy="588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Personalized book suggestions from history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200440" y="4937443"/>
            <a:ext cx="1891853" cy="258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Digital Content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200440" y="5278605"/>
            <a:ext cx="1891853" cy="588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E-books and audiobooks for hybrid reading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040604" y="1241355"/>
            <a:ext cx="1881515" cy="516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Analytics Dashboard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040604" y="1840974"/>
            <a:ext cx="1881515" cy="392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Admin insights on categories and peaks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901443" y="5035495"/>
            <a:ext cx="1881515" cy="258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Mobile App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901443" y="5376657"/>
            <a:ext cx="1881515" cy="39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Push alerts and mobile borrowing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20012" y="6100961"/>
            <a:ext cx="11361255" cy="19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Each phase builds on the current foundation — scaling ReadSpace from a management tool into a </a:t>
            </a:r>
            <a:pPr algn="l" indent="0" marL="0">
              <a:lnSpc>
                <a:spcPct val="113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complete intelligent library ecosystem</a:t>
            </a:r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65745"/>
            <a:ext cx="1075167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Scalability: Built to Grow With You</a:t>
            </a:r>
            <a:endParaRPr lang="en-US" sz="1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1257" y="986433"/>
            <a:ext cx="5250426" cy="52505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663" y="3455392"/>
            <a:ext cx="525042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One System. Any Institution.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713663" y="3649663"/>
            <a:ext cx="5860010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ReadSpace is architected to scale — from a single school library to a multi-branch university network.</a:t>
            </a:r>
            <a:endParaRPr lang="en-US" sz="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012" y="6352679"/>
            <a:ext cx="3549561" cy="52814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86299" y="6468170"/>
            <a:ext cx="326778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🏫</a:t>
            </a:r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Education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886299" y="6641902"/>
            <a:ext cx="3267787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Schools &amp; universities</a:t>
            </a:r>
            <a:endParaRPr lang="en-US" sz="8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20968" y="6352679"/>
            <a:ext cx="3549660" cy="52814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487254" y="6468170"/>
            <a:ext cx="326788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🏛</a:t>
            </a:r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Public</a:t>
            </a:r>
            <a:endParaRPr lang="en-US" sz="850" dirty="0"/>
          </a:p>
        </p:txBody>
      </p:sp>
      <p:sp>
        <p:nvSpPr>
          <p:cNvPr id="11" name="Text 6"/>
          <p:cNvSpPr/>
          <p:nvPr/>
        </p:nvSpPr>
        <p:spPr>
          <a:xfrm>
            <a:off x="4487254" y="6641902"/>
            <a:ext cx="3267886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Municipal &amp; community</a:t>
            </a:r>
            <a:endParaRPr lang="en-US" sz="8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22022" y="6352679"/>
            <a:ext cx="3549660" cy="52814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088309" y="6468170"/>
            <a:ext cx="326788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🏢</a:t>
            </a:r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Enterprise</a:t>
            </a:r>
            <a:endParaRPr lang="en-US" sz="850" dirty="0"/>
          </a:p>
        </p:txBody>
      </p:sp>
      <p:sp>
        <p:nvSpPr>
          <p:cNvPr id="14" name="Text 8"/>
          <p:cNvSpPr/>
          <p:nvPr/>
        </p:nvSpPr>
        <p:spPr>
          <a:xfrm>
            <a:off x="8088309" y="6641902"/>
            <a:ext cx="3267886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Corporate &amp; research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898" y="955377"/>
            <a:ext cx="61797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Future of Libraries Starts Here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5291898" y="2406948"/>
            <a:ext cx="6179784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ReadSpace is more than a system — it's a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commitment to smarter, faster, and more accessible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library services.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291898" y="3296741"/>
            <a:ext cx="6179784" cy="2605881"/>
          </a:xfrm>
          <a:prstGeom prst="roundRect">
            <a:avLst>
              <a:gd name="adj" fmla="val 11843"/>
            </a:avLst>
          </a:prstGeom>
          <a:solidFill>
            <a:srgbClr val="0A081B"/>
          </a:solidFill>
          <a:ln w="25399">
            <a:solidFill>
              <a:srgbClr val="16FFB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317297" y="3322141"/>
            <a:ext cx="3064493" cy="1485305"/>
          </a:xfrm>
          <a:custGeom>
            <a:avLst/>
            <a:gdLst/>
            <a:ahLst/>
            <a:cxnLst/>
            <a:rect l="l" t="t" r="r" b="b"/>
            <a:pathLst>
              <a:path w="3064493" h="1485305">
                <a:moveTo>
                  <a:pt x="0" y="0"/>
                </a:moveTo>
                <a:lnTo>
                  <a:pt x="2807324" y="0"/>
                </a:lnTo>
                <a:arcTo hR="257175" wR="257169" stAng="16200000" swAng="5400000"/>
                <a:lnTo>
                  <a:pt x="3064493" y="1485305"/>
                </a:lnTo>
                <a:lnTo>
                  <a:pt x="0" y="1485305"/>
                </a:lnTo>
                <a:lnTo>
                  <a:pt x="0" y="0"/>
                </a:lnTo>
                <a:close/>
              </a:path>
            </a:pathLst>
          </a:custGeom>
          <a:solidFill>
            <a:srgbClr val="0A081B"/>
          </a:solidFill>
          <a:ln/>
        </p:spPr>
      </p:sp>
      <p:sp>
        <p:nvSpPr>
          <p:cNvPr id="7" name="Text 4"/>
          <p:cNvSpPr/>
          <p:nvPr/>
        </p:nvSpPr>
        <p:spPr>
          <a:xfrm>
            <a:off x="5522973" y="3527822"/>
            <a:ext cx="2653142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🚀</a:t>
            </a:r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Ready to Deploy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5522973" y="3943350"/>
            <a:ext cx="2653142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Current features are production-ready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381790" y="3322141"/>
            <a:ext cx="3064493" cy="1485305"/>
          </a:xfrm>
          <a:custGeom>
            <a:avLst/>
            <a:gdLst/>
            <a:ahLst/>
            <a:cxnLst/>
            <a:rect l="l" t="t" r="r" b="b"/>
            <a:pathLst>
              <a:path w="3064493" h="1485305">
                <a:moveTo>
                  <a:pt x="257169" y="0"/>
                </a:moveTo>
                <a:lnTo>
                  <a:pt x="3064493" y="0"/>
                </a:lnTo>
                <a:lnTo>
                  <a:pt x="3064493" y="1485305"/>
                </a:lnTo>
                <a:lnTo>
                  <a:pt x="0" y="1485305"/>
                </a:lnTo>
                <a:lnTo>
                  <a:pt x="0" y="257175"/>
                </a:lnTo>
                <a:arcTo hR="257175" wR="257169" stAng="10800000" swAng="5400000"/>
                <a:close/>
              </a:path>
            </a:pathLst>
          </a:custGeom>
          <a:solidFill>
            <a:srgbClr val="0A081B"/>
          </a:solidFill>
          <a:ln/>
        </p:spPr>
      </p:sp>
      <p:sp>
        <p:nvSpPr>
          <p:cNvPr id="10" name="Shape 7"/>
          <p:cNvSpPr/>
          <p:nvPr/>
        </p:nvSpPr>
        <p:spPr>
          <a:xfrm>
            <a:off x="11420884" y="3322141"/>
            <a:ext cx="25399" cy="1485305"/>
          </a:xfrm>
          <a:prstGeom prst="roundRect">
            <a:avLst>
              <a:gd name="adj" fmla="val 50001"/>
            </a:avLst>
          </a:prstGeom>
          <a:solidFill>
            <a:srgbClr val="0FC3C0"/>
          </a:solidFill>
          <a:ln/>
        </p:spPr>
      </p:sp>
      <p:sp>
        <p:nvSpPr>
          <p:cNvPr id="11" name="Text 8"/>
          <p:cNvSpPr/>
          <p:nvPr/>
        </p:nvSpPr>
        <p:spPr>
          <a:xfrm>
            <a:off x="8587466" y="3527822"/>
            <a:ext cx="2653142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🤝</a:t>
            </a:r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Let's Partner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8587466" y="3943350"/>
            <a:ext cx="2653142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Pilots, partnerships &amp; investment welcome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317297" y="4807446"/>
            <a:ext cx="6128986" cy="1069777"/>
          </a:xfrm>
          <a:custGeom>
            <a:avLst/>
            <a:gdLst/>
            <a:ahLst/>
            <a:cxnLst/>
            <a:rect l="l" t="t" r="r" b="b"/>
            <a:pathLst>
              <a:path w="6128986" h="1069777">
                <a:moveTo>
                  <a:pt x="0" y="0"/>
                </a:moveTo>
                <a:lnTo>
                  <a:pt x="6128986" y="0"/>
                </a:lnTo>
                <a:lnTo>
                  <a:pt x="6128986" y="812602"/>
                </a:lnTo>
                <a:arcTo hR="257175" wR="257169" stAng="0" swAng="5400000"/>
                <a:lnTo>
                  <a:pt x="257169" y="1069777"/>
                </a:lnTo>
                <a:arcTo hR="257175" wR="257169" stAng="5400000" swAng="5400000"/>
                <a:lnTo>
                  <a:pt x="0" y="0"/>
                </a:lnTo>
                <a:close/>
              </a:path>
            </a:pathLst>
          </a:custGeom>
          <a:solidFill>
            <a:srgbClr val="0A081B"/>
          </a:solidFill>
          <a:ln/>
        </p:spPr>
      </p:sp>
      <p:sp>
        <p:nvSpPr>
          <p:cNvPr id="14" name="Shape 11"/>
          <p:cNvSpPr/>
          <p:nvPr/>
        </p:nvSpPr>
        <p:spPr>
          <a:xfrm>
            <a:off x="5317297" y="4807446"/>
            <a:ext cx="6128986" cy="25400"/>
          </a:xfrm>
          <a:prstGeom prst="roundRect">
            <a:avLst>
              <a:gd name="adj" fmla="val 49999"/>
            </a:avLst>
          </a:prstGeom>
          <a:solidFill>
            <a:srgbClr val="1D8DCD"/>
          </a:solidFill>
          <a:ln/>
        </p:spPr>
      </p:sp>
      <p:sp>
        <p:nvSpPr>
          <p:cNvPr id="15" name="Text 12"/>
          <p:cNvSpPr/>
          <p:nvPr/>
        </p:nvSpPr>
        <p:spPr>
          <a:xfrm>
            <a:off x="5522973" y="5013127"/>
            <a:ext cx="5717635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"Thank you for your time and attention; we are now ready to answer any questions you may have."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2026-09-04T00:15:34Z</dcterms:created>
  <dcterms:modified xsi:type="dcterms:W3CDTF">2026-09-04T00:15:34Z</dcterms:modified>
</cp:coreProperties>
</file>